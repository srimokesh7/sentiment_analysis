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13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 mokesh" userId="a4fba6809f16a1b7" providerId="LiveId" clId="{7F698001-39FF-491F-9995-A4544ECF176B}"/>
    <pc:docChg chg="modSld">
      <pc:chgData name="sir mokesh" userId="a4fba6809f16a1b7" providerId="LiveId" clId="{7F698001-39FF-491F-9995-A4544ECF176B}" dt="2023-10-11T13:08:39.887" v="11" actId="1076"/>
      <pc:docMkLst>
        <pc:docMk/>
      </pc:docMkLst>
      <pc:sldChg chg="modSp mod">
        <pc:chgData name="sir mokesh" userId="a4fba6809f16a1b7" providerId="LiveId" clId="{7F698001-39FF-491F-9995-A4544ECF176B}" dt="2023-10-11T13:05:40.015" v="0" actId="2711"/>
        <pc:sldMkLst>
          <pc:docMk/>
          <pc:sldMk cId="4071741651" sldId="257"/>
        </pc:sldMkLst>
        <pc:spChg chg="mod">
          <ac:chgData name="sir mokesh" userId="a4fba6809f16a1b7" providerId="LiveId" clId="{7F698001-39FF-491F-9995-A4544ECF176B}" dt="2023-10-11T13:05:40.015" v="0" actId="2711"/>
          <ac:spMkLst>
            <pc:docMk/>
            <pc:sldMk cId="4071741651" sldId="257"/>
            <ac:spMk id="6" creationId="{7C14E00C-B9B0-2B84-76DA-E413E8EAB378}"/>
          </ac:spMkLst>
        </pc:spChg>
      </pc:sldChg>
      <pc:sldChg chg="modSp mod">
        <pc:chgData name="sir mokesh" userId="a4fba6809f16a1b7" providerId="LiveId" clId="{7F698001-39FF-491F-9995-A4544ECF176B}" dt="2023-10-11T13:05:53.536" v="1" actId="2711"/>
        <pc:sldMkLst>
          <pc:docMk/>
          <pc:sldMk cId="3603206249" sldId="258"/>
        </pc:sldMkLst>
        <pc:spChg chg="mod">
          <ac:chgData name="sir mokesh" userId="a4fba6809f16a1b7" providerId="LiveId" clId="{7F698001-39FF-491F-9995-A4544ECF176B}" dt="2023-10-11T13:05:53.536" v="1" actId="2711"/>
          <ac:spMkLst>
            <pc:docMk/>
            <pc:sldMk cId="3603206249" sldId="258"/>
            <ac:spMk id="4" creationId="{60A33E3A-2B2A-FBDB-76CD-0FDD7B19E744}"/>
          </ac:spMkLst>
        </pc:spChg>
      </pc:sldChg>
      <pc:sldChg chg="modSp mod">
        <pc:chgData name="sir mokesh" userId="a4fba6809f16a1b7" providerId="LiveId" clId="{7F698001-39FF-491F-9995-A4544ECF176B}" dt="2023-10-11T13:07:22.006" v="5" actId="255"/>
        <pc:sldMkLst>
          <pc:docMk/>
          <pc:sldMk cId="377831074" sldId="259"/>
        </pc:sldMkLst>
        <pc:spChg chg="mod">
          <ac:chgData name="sir mokesh" userId="a4fba6809f16a1b7" providerId="LiveId" clId="{7F698001-39FF-491F-9995-A4544ECF176B}" dt="2023-10-11T13:07:22.006" v="5" actId="255"/>
          <ac:spMkLst>
            <pc:docMk/>
            <pc:sldMk cId="377831074" sldId="259"/>
            <ac:spMk id="4" creationId="{60A33E3A-2B2A-FBDB-76CD-0FDD7B19E744}"/>
          </ac:spMkLst>
        </pc:spChg>
      </pc:sldChg>
      <pc:sldChg chg="modSp mod">
        <pc:chgData name="sir mokesh" userId="a4fba6809f16a1b7" providerId="LiveId" clId="{7F698001-39FF-491F-9995-A4544ECF176B}" dt="2023-10-11T13:07:40.747" v="6" actId="1076"/>
        <pc:sldMkLst>
          <pc:docMk/>
          <pc:sldMk cId="460496228" sldId="260"/>
        </pc:sldMkLst>
        <pc:spChg chg="mod">
          <ac:chgData name="sir mokesh" userId="a4fba6809f16a1b7" providerId="LiveId" clId="{7F698001-39FF-491F-9995-A4544ECF176B}" dt="2023-10-11T13:07:40.747" v="6" actId="1076"/>
          <ac:spMkLst>
            <pc:docMk/>
            <pc:sldMk cId="460496228" sldId="260"/>
            <ac:spMk id="6" creationId="{EB65CDD7-740D-EEC1-B8EC-A9736EEF1652}"/>
          </ac:spMkLst>
        </pc:spChg>
      </pc:sldChg>
      <pc:sldChg chg="modSp mod">
        <pc:chgData name="sir mokesh" userId="a4fba6809f16a1b7" providerId="LiveId" clId="{7F698001-39FF-491F-9995-A4544ECF176B}" dt="2023-10-11T13:07:51.068" v="7" actId="2711"/>
        <pc:sldMkLst>
          <pc:docMk/>
          <pc:sldMk cId="2608472651" sldId="261"/>
        </pc:sldMkLst>
        <pc:spChg chg="mod">
          <ac:chgData name="sir mokesh" userId="a4fba6809f16a1b7" providerId="LiveId" clId="{7F698001-39FF-491F-9995-A4544ECF176B}" dt="2023-10-11T13:07:51.068" v="7" actId="2711"/>
          <ac:spMkLst>
            <pc:docMk/>
            <pc:sldMk cId="2608472651" sldId="261"/>
            <ac:spMk id="4" creationId="{60A33E3A-2B2A-FBDB-76CD-0FDD7B19E744}"/>
          </ac:spMkLst>
        </pc:spChg>
      </pc:sldChg>
      <pc:sldChg chg="modSp mod">
        <pc:chgData name="sir mokesh" userId="a4fba6809f16a1b7" providerId="LiveId" clId="{7F698001-39FF-491F-9995-A4544ECF176B}" dt="2023-10-11T13:08:39.887" v="11" actId="1076"/>
        <pc:sldMkLst>
          <pc:docMk/>
          <pc:sldMk cId="1940240031" sldId="262"/>
        </pc:sldMkLst>
        <pc:spChg chg="mod">
          <ac:chgData name="sir mokesh" userId="a4fba6809f16a1b7" providerId="LiveId" clId="{7F698001-39FF-491F-9995-A4544ECF176B}" dt="2023-10-11T13:08:39.887" v="11" actId="1076"/>
          <ac:spMkLst>
            <pc:docMk/>
            <pc:sldMk cId="1940240031" sldId="262"/>
            <ac:spMk id="2" creationId="{9B14010B-4657-CDBB-C897-C6CABC5D892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10/6/2025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8153-90BE-1B05-ECA1-0E6DAF0EAFEC}"/>
              </a:ext>
            </a:extLst>
          </p:cNvPr>
          <p:cNvSpPr>
            <a:spLocks noGrp="1"/>
          </p:cNvSpPr>
          <p:nvPr>
            <p:ph type="ctrTitle"/>
          </p:nvPr>
        </p:nvSpPr>
        <p:spPr>
          <a:xfrm>
            <a:off x="504825" y="932097"/>
            <a:ext cx="10748865" cy="3327199"/>
          </a:xfrm>
        </p:spPr>
        <p:txBody>
          <a:bodyPr>
            <a:noAutofit/>
          </a:bodyPr>
          <a:lstStyle/>
          <a:p>
            <a:r>
              <a:rPr lang="en-IN" sz="6600" dirty="0">
                <a:latin typeface="Times New Roman" panose="02020603050405020304" pitchFamily="18" charset="0"/>
                <a:cs typeface="Times New Roman" panose="02020603050405020304" pitchFamily="18" charset="0"/>
              </a:rPr>
              <a:t>Sentimental  analysis </a:t>
            </a:r>
          </a:p>
        </p:txBody>
      </p:sp>
      <p:sp>
        <p:nvSpPr>
          <p:cNvPr id="3" name="Subtitle 2">
            <a:extLst>
              <a:ext uri="{FF2B5EF4-FFF2-40B4-BE49-F238E27FC236}">
                <a16:creationId xmlns:a16="http://schemas.microsoft.com/office/drawing/2014/main" id="{F2D98A45-CF4B-4786-BC69-4D6E140F59AF}"/>
              </a:ext>
            </a:extLst>
          </p:cNvPr>
          <p:cNvSpPr>
            <a:spLocks noGrp="1"/>
          </p:cNvSpPr>
          <p:nvPr>
            <p:ph type="subTitle" idx="1"/>
          </p:nvPr>
        </p:nvSpPr>
        <p:spPr>
          <a:xfrm>
            <a:off x="6251509" y="4866751"/>
            <a:ext cx="8689976" cy="1371599"/>
          </a:xfrm>
        </p:spPr>
        <p:txBody>
          <a:bodyPr>
            <a:normAutofit fontScale="92500" lnSpcReduction="10000"/>
          </a:bodyPr>
          <a:lstStyle/>
          <a:p>
            <a:r>
              <a:rPr lang="en-IN" dirty="0">
                <a:solidFill>
                  <a:schemeClr val="tx1">
                    <a:lumMod val="95000"/>
                    <a:lumOff val="5000"/>
                  </a:schemeClr>
                </a:solidFill>
                <a:latin typeface="Times New Roman" panose="02020603050405020304" pitchFamily="18" charset="0"/>
                <a:cs typeface="Times New Roman" panose="02020603050405020304" pitchFamily="18" charset="0"/>
              </a:rPr>
              <a:t>BY</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dirty="0" err="1">
                <a:solidFill>
                  <a:schemeClr val="tx1">
                    <a:lumMod val="95000"/>
                    <a:lumOff val="5000"/>
                  </a:schemeClr>
                </a:solidFill>
                <a:latin typeface="Times New Roman" panose="02020603050405020304" pitchFamily="18" charset="0"/>
                <a:cs typeface="Times New Roman" panose="02020603050405020304" pitchFamily="18" charset="0"/>
              </a:rPr>
              <a:t>srimokesh</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c</a:t>
            </a:r>
          </a:p>
          <a:p>
            <a:r>
              <a:rPr lang="en-IN" dirty="0">
                <a:solidFill>
                  <a:schemeClr val="tx1">
                    <a:lumMod val="95000"/>
                    <a:lumOff val="5000"/>
                  </a:schemeClr>
                </a:solidFill>
                <a:latin typeface="Times New Roman" panose="02020603050405020304" pitchFamily="18" charset="0"/>
                <a:cs typeface="Times New Roman" panose="02020603050405020304" pitchFamily="18" charset="0"/>
              </a:rPr>
              <a:t>7376222it260</a:t>
            </a:r>
          </a:p>
          <a:p>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114383" y="180018"/>
            <a:ext cx="1846261" cy="1504159"/>
          </a:xfrm>
          <a:prstGeom prst="rect">
            <a:avLst/>
          </a:prstGeom>
        </p:spPr>
      </p:pic>
    </p:spTree>
    <p:extLst>
      <p:ext uri="{BB962C8B-B14F-4D97-AF65-F5344CB8AC3E}">
        <p14:creationId xmlns:p14="http://schemas.microsoft.com/office/powerpoint/2010/main" val="697178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4" name="TextBox 3">
            <a:extLst>
              <a:ext uri="{FF2B5EF4-FFF2-40B4-BE49-F238E27FC236}">
                <a16:creationId xmlns:a16="http://schemas.microsoft.com/office/drawing/2014/main" id="{60A33E3A-2B2A-FBDB-76CD-0FDD7B19E744}"/>
              </a:ext>
            </a:extLst>
          </p:cNvPr>
          <p:cNvSpPr txBox="1"/>
          <p:nvPr/>
        </p:nvSpPr>
        <p:spPr>
          <a:xfrm flipH="1">
            <a:off x="754845" y="1213180"/>
            <a:ext cx="2874762" cy="461665"/>
          </a:xfrm>
          <a:prstGeom prst="rect">
            <a:avLst/>
          </a:prstGeom>
          <a:noFill/>
        </p:spPr>
        <p:txBody>
          <a:bodyPr wrap="square" rtlCol="0">
            <a:spAutoFit/>
          </a:bodyPr>
          <a:lstStyle/>
          <a:p>
            <a:r>
              <a:rPr lang="en-IN" sz="2400" dirty="0"/>
              <a:t>Introduction(abstract):</a:t>
            </a:r>
          </a:p>
        </p:txBody>
      </p:sp>
      <p:sp>
        <p:nvSpPr>
          <p:cNvPr id="6" name="TextBox 5">
            <a:extLst>
              <a:ext uri="{FF2B5EF4-FFF2-40B4-BE49-F238E27FC236}">
                <a16:creationId xmlns:a16="http://schemas.microsoft.com/office/drawing/2014/main" id="{7C14E00C-B9B0-2B84-76DA-E413E8EAB378}"/>
              </a:ext>
            </a:extLst>
          </p:cNvPr>
          <p:cNvSpPr txBox="1"/>
          <p:nvPr/>
        </p:nvSpPr>
        <p:spPr>
          <a:xfrm>
            <a:off x="1350783" y="1744823"/>
            <a:ext cx="9490434" cy="3416320"/>
          </a:xfrm>
          <a:prstGeom prst="rect">
            <a:avLst/>
          </a:prstGeom>
          <a:noFill/>
        </p:spPr>
        <p:txBody>
          <a:bodyPr wrap="square" rtlCol="0">
            <a:spAutoFit/>
          </a:bodyPr>
          <a:lstStyle/>
          <a:p>
            <a:pPr algn="just"/>
            <a:r>
              <a:rPr lang="en-US" dirty="0"/>
              <a:t>	</a:t>
            </a:r>
            <a:r>
              <a:rPr lang="en-US" dirty="0">
                <a:latin typeface="Times New Roman" panose="02020603050405020304" pitchFamily="18" charset="0"/>
                <a:cs typeface="Times New Roman" panose="02020603050405020304" pitchFamily="18" charset="0"/>
              </a:rPr>
              <a:t>This project revolves around sentiment analysis, a crucial aspect of understanding emotions</a:t>
            </a:r>
          </a:p>
          <a:p>
            <a:pPr algn="just"/>
            <a:r>
              <a:rPr lang="en-US" dirty="0">
                <a:latin typeface="Times New Roman" panose="02020603050405020304" pitchFamily="18" charset="0"/>
                <a:cs typeface="Times New Roman" panose="02020603050405020304" pitchFamily="18" charset="0"/>
              </a:rPr>
              <a:t>conveyed in the text. It employs two distinct techniques for this purpose: traditional machine learning</a:t>
            </a:r>
          </a:p>
          <a:p>
            <a:pPr algn="just"/>
            <a:r>
              <a:rPr lang="en-US" dirty="0">
                <a:latin typeface="Times New Roman" panose="02020603050405020304" pitchFamily="18" charset="0"/>
                <a:cs typeface="Times New Roman" panose="02020603050405020304" pitchFamily="18" charset="0"/>
              </a:rPr>
              <a:t>and the VADER sentiment analysis tool. The machine learning component utilizes a Multinomial</a:t>
            </a:r>
          </a:p>
          <a:p>
            <a:pPr algn="just"/>
            <a:r>
              <a:rPr lang="en-US" dirty="0">
                <a:latin typeface="Times New Roman" panose="02020603050405020304" pitchFamily="18" charset="0"/>
                <a:cs typeface="Times New Roman" panose="02020603050405020304" pitchFamily="18" charset="0"/>
              </a:rPr>
              <a:t>Naive Bayes classifier, trained on a dataset of text samples with sentiment labels. Text data is</a:t>
            </a:r>
          </a:p>
          <a:p>
            <a:pPr algn="just"/>
            <a:r>
              <a:rPr lang="en-US" dirty="0">
                <a:latin typeface="Times New Roman" panose="02020603050405020304" pitchFamily="18" charset="0"/>
                <a:cs typeface="Times New Roman" panose="02020603050405020304" pitchFamily="18" charset="0"/>
              </a:rPr>
              <a:t>preprocessed and converted into numerical features using TF-IDF vectorization. In parallel, the</a:t>
            </a:r>
          </a:p>
          <a:p>
            <a:pPr algn="just"/>
            <a:r>
              <a:rPr lang="en-US" dirty="0">
                <a:latin typeface="Times New Roman" panose="02020603050405020304" pitchFamily="18" charset="0"/>
                <a:cs typeface="Times New Roman" panose="02020603050405020304" pitchFamily="18" charset="0"/>
              </a:rPr>
              <a:t>VADER tool offers lexicon-based sentiment analysis, providing a compound sentiment score for</a:t>
            </a:r>
          </a:p>
          <a:p>
            <a:pPr algn="just"/>
            <a:r>
              <a:rPr lang="en-US" dirty="0">
                <a:latin typeface="Times New Roman" panose="02020603050405020304" pitchFamily="18" charset="0"/>
                <a:cs typeface="Times New Roman" panose="02020603050405020304" pitchFamily="18" charset="0"/>
              </a:rPr>
              <a:t>text. This project allows users to predict sentiment in text inputs, offering the flexibility to choose</a:t>
            </a:r>
          </a:p>
          <a:p>
            <a:pPr algn="just"/>
            <a:r>
              <a:rPr lang="en-US" dirty="0">
                <a:latin typeface="Times New Roman" panose="02020603050405020304" pitchFamily="18" charset="0"/>
                <a:cs typeface="Times New Roman" panose="02020603050405020304" pitchFamily="18" charset="0"/>
              </a:rPr>
              <a:t>between the robust machine learning approach or the simplicity of VADER, depending on specific</a:t>
            </a:r>
          </a:p>
          <a:p>
            <a:pPr algn="just"/>
            <a:r>
              <a:rPr lang="en-US" dirty="0">
                <a:latin typeface="Times New Roman" panose="02020603050405020304" pitchFamily="18" charset="0"/>
                <a:cs typeface="Times New Roman" panose="02020603050405020304" pitchFamily="18" charset="0"/>
              </a:rPr>
              <a:t>needs. Ultimately, it provides a comprehensive sentiment analysis solution, catering to a wide range</a:t>
            </a:r>
          </a:p>
          <a:p>
            <a:pPr algn="just"/>
            <a:r>
              <a:rPr lang="en-US" dirty="0">
                <a:latin typeface="Times New Roman" panose="02020603050405020304" pitchFamily="18" charset="0"/>
                <a:cs typeface="Times New Roman" panose="02020603050405020304" pitchFamily="18" charset="0"/>
              </a:rPr>
              <a:t>of applications where understanding sentiment in text data is essential, bridging the gap between</a:t>
            </a:r>
          </a:p>
          <a:p>
            <a:pPr algn="just"/>
            <a:r>
              <a:rPr lang="en-US" dirty="0">
                <a:latin typeface="Times New Roman" panose="02020603050405020304" pitchFamily="18" charset="0"/>
                <a:cs typeface="Times New Roman" panose="02020603050405020304" pitchFamily="18" charset="0"/>
              </a:rPr>
              <a:t>traditional machine learning and lexicon-based methods. Let’s see more about the Project in this</a:t>
            </a:r>
          </a:p>
          <a:p>
            <a:pPr algn="just"/>
            <a:r>
              <a:rPr lang="en-US" dirty="0">
                <a:latin typeface="Times New Roman" panose="02020603050405020304" pitchFamily="18" charset="0"/>
                <a:cs typeface="Times New Roman" panose="02020603050405020304" pitchFamily="18" charset="0"/>
              </a:rPr>
              <a:t>Report.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741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4" name="TextBox 3">
            <a:extLst>
              <a:ext uri="{FF2B5EF4-FFF2-40B4-BE49-F238E27FC236}">
                <a16:creationId xmlns:a16="http://schemas.microsoft.com/office/drawing/2014/main" id="{60A33E3A-2B2A-FBDB-76CD-0FDD7B19E744}"/>
              </a:ext>
            </a:extLst>
          </p:cNvPr>
          <p:cNvSpPr txBox="1"/>
          <p:nvPr/>
        </p:nvSpPr>
        <p:spPr>
          <a:xfrm flipH="1">
            <a:off x="754845" y="1305513"/>
            <a:ext cx="287476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Design:</a:t>
            </a:r>
          </a:p>
        </p:txBody>
      </p:sp>
      <p:pic>
        <p:nvPicPr>
          <p:cNvPr id="7" name="Picture 6">
            <a:extLst>
              <a:ext uri="{FF2B5EF4-FFF2-40B4-BE49-F238E27FC236}">
                <a16:creationId xmlns:a16="http://schemas.microsoft.com/office/drawing/2014/main" id="{0B97B843-BFBA-4897-F343-61839B2CBAEE}"/>
              </a:ext>
            </a:extLst>
          </p:cNvPr>
          <p:cNvPicPr>
            <a:picLocks noChangeAspect="1"/>
          </p:cNvPicPr>
          <p:nvPr/>
        </p:nvPicPr>
        <p:blipFill>
          <a:blip r:embed="rId3"/>
          <a:stretch>
            <a:fillRect/>
          </a:stretch>
        </p:blipFill>
        <p:spPr>
          <a:xfrm>
            <a:off x="543085" y="2079937"/>
            <a:ext cx="11510865" cy="4004411"/>
          </a:xfrm>
          <a:prstGeom prst="rect">
            <a:avLst/>
          </a:prstGeom>
        </p:spPr>
      </p:pic>
    </p:spTree>
    <p:extLst>
      <p:ext uri="{BB962C8B-B14F-4D97-AF65-F5344CB8AC3E}">
        <p14:creationId xmlns:p14="http://schemas.microsoft.com/office/powerpoint/2010/main" val="3603206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4" name="TextBox 3">
            <a:extLst>
              <a:ext uri="{FF2B5EF4-FFF2-40B4-BE49-F238E27FC236}">
                <a16:creationId xmlns:a16="http://schemas.microsoft.com/office/drawing/2014/main" id="{60A33E3A-2B2A-FBDB-76CD-0FDD7B19E744}"/>
              </a:ext>
            </a:extLst>
          </p:cNvPr>
          <p:cNvSpPr txBox="1"/>
          <p:nvPr/>
        </p:nvSpPr>
        <p:spPr>
          <a:xfrm flipH="1">
            <a:off x="997441" y="1342383"/>
            <a:ext cx="2025677"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Methodology:</a:t>
            </a:r>
          </a:p>
        </p:txBody>
      </p:sp>
      <p:sp>
        <p:nvSpPr>
          <p:cNvPr id="9" name="TextBox 8">
            <a:extLst>
              <a:ext uri="{FF2B5EF4-FFF2-40B4-BE49-F238E27FC236}">
                <a16:creationId xmlns:a16="http://schemas.microsoft.com/office/drawing/2014/main" id="{168A6328-9403-6115-65A9-0B949ACA8F59}"/>
              </a:ext>
            </a:extLst>
          </p:cNvPr>
          <p:cNvSpPr txBox="1"/>
          <p:nvPr/>
        </p:nvSpPr>
        <p:spPr>
          <a:xfrm>
            <a:off x="2285999" y="1810140"/>
            <a:ext cx="8154955" cy="2862322"/>
          </a:xfrm>
          <a:prstGeom prst="rect">
            <a:avLst/>
          </a:prstGeom>
          <a:noFill/>
        </p:spPr>
        <p:txBody>
          <a:bodyPr wrap="square" rtlCol="0">
            <a:spAutoFit/>
          </a:bodyPr>
          <a:lstStyle/>
          <a:p>
            <a:r>
              <a:rPr lang="en-US" sz="2000" b="0" i="0" dirty="0">
                <a:solidFill>
                  <a:srgbClr val="374151"/>
                </a:solidFill>
                <a:effectLst/>
                <a:latin typeface="Times New Roman" panose="02020603050405020304" pitchFamily="18" charset="0"/>
                <a:cs typeface="Times New Roman" panose="02020603050405020304" pitchFamily="18" charset="0"/>
              </a:rPr>
              <a:t>We obtained a dataset of text samples with sentiment labels, preprocessed by removing unnecessary characters, converting to lowercase, and eliminating stop words. Using the bag-of-words approach, we represented the text data as numerical feature vectors. The Naive Bayes model was trained on this data, assuming feature independence. Evaluation metrics such as accuracy, precision, recall, and F1 score were used to assess its performance. Achieving approximately 80% accuracy, Naive Bayes demonstrated simplicity and efficiency, making it a viable choice for sentiment analysis tasks with limited resources.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31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4" name="TextBox 3">
            <a:extLst>
              <a:ext uri="{FF2B5EF4-FFF2-40B4-BE49-F238E27FC236}">
                <a16:creationId xmlns:a16="http://schemas.microsoft.com/office/drawing/2014/main" id="{60A33E3A-2B2A-FBDB-76CD-0FDD7B19E744}"/>
              </a:ext>
            </a:extLst>
          </p:cNvPr>
          <p:cNvSpPr txBox="1"/>
          <p:nvPr/>
        </p:nvSpPr>
        <p:spPr>
          <a:xfrm flipH="1">
            <a:off x="773507" y="1268962"/>
            <a:ext cx="2893424"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Results and Discussion:</a:t>
            </a:r>
          </a:p>
        </p:txBody>
      </p:sp>
      <p:sp>
        <p:nvSpPr>
          <p:cNvPr id="6" name="TextBox 5">
            <a:extLst>
              <a:ext uri="{FF2B5EF4-FFF2-40B4-BE49-F238E27FC236}">
                <a16:creationId xmlns:a16="http://schemas.microsoft.com/office/drawing/2014/main" id="{EB65CDD7-740D-EEC1-B8EC-A9736EEF1652}"/>
              </a:ext>
            </a:extLst>
          </p:cNvPr>
          <p:cNvSpPr txBox="1"/>
          <p:nvPr/>
        </p:nvSpPr>
        <p:spPr>
          <a:xfrm>
            <a:off x="1632858" y="1782148"/>
            <a:ext cx="8686800" cy="230832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 our sentiment analysis project using the Naive Bayes model, we achieved an accuracy of</a:t>
            </a:r>
          </a:p>
          <a:p>
            <a:pPr algn="just"/>
            <a:r>
              <a:rPr lang="en-US" dirty="0">
                <a:latin typeface="Times New Roman" panose="02020603050405020304" pitchFamily="18" charset="0"/>
                <a:cs typeface="Times New Roman" panose="02020603050405020304" pitchFamily="18" charset="0"/>
              </a:rPr>
              <a:t>approximately 80%. Naive Bayes demonstrated effectiveness in classifying sentiment in text data, particularly in terms of its simplicity and efficiency. Naive Bayes provides a good baseline for sentiment analysis tasks, especially when computational resources or training data are limited. Future work could explore hybrid approaches combining Naive Bayes with deep learning techniques to improve overall performance. Overall, our project highlights the viability and potential of using the Naive Bayes model in sentiment analysis, while acknowledging its inherent trade-offs in terms of accuracy and complexity.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496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4" name="TextBox 3">
            <a:extLst>
              <a:ext uri="{FF2B5EF4-FFF2-40B4-BE49-F238E27FC236}">
                <a16:creationId xmlns:a16="http://schemas.microsoft.com/office/drawing/2014/main" id="{60A33E3A-2B2A-FBDB-76CD-0FDD7B19E744}"/>
              </a:ext>
            </a:extLst>
          </p:cNvPr>
          <p:cNvSpPr txBox="1"/>
          <p:nvPr/>
        </p:nvSpPr>
        <p:spPr>
          <a:xfrm flipH="1">
            <a:off x="764176" y="1213180"/>
            <a:ext cx="287476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Outcome:</a:t>
            </a:r>
          </a:p>
        </p:txBody>
      </p:sp>
      <p:pic>
        <p:nvPicPr>
          <p:cNvPr id="9" name="Picture 8">
            <a:extLst>
              <a:ext uri="{FF2B5EF4-FFF2-40B4-BE49-F238E27FC236}">
                <a16:creationId xmlns:a16="http://schemas.microsoft.com/office/drawing/2014/main" id="{DE567692-0716-488F-514F-510584BF1207}"/>
              </a:ext>
            </a:extLst>
          </p:cNvPr>
          <p:cNvPicPr>
            <a:picLocks noChangeAspect="1"/>
          </p:cNvPicPr>
          <p:nvPr/>
        </p:nvPicPr>
        <p:blipFill>
          <a:blip r:embed="rId3"/>
          <a:stretch>
            <a:fillRect/>
          </a:stretch>
        </p:blipFill>
        <p:spPr>
          <a:xfrm>
            <a:off x="1334278" y="2160815"/>
            <a:ext cx="3628442" cy="2411185"/>
          </a:xfrm>
          <a:prstGeom prst="rect">
            <a:avLst/>
          </a:prstGeom>
        </p:spPr>
      </p:pic>
      <p:pic>
        <p:nvPicPr>
          <p:cNvPr id="11" name="Picture 10">
            <a:extLst>
              <a:ext uri="{FF2B5EF4-FFF2-40B4-BE49-F238E27FC236}">
                <a16:creationId xmlns:a16="http://schemas.microsoft.com/office/drawing/2014/main" id="{3A1EC6EE-EA93-F05F-0C1D-5E557CF012C7}"/>
              </a:ext>
            </a:extLst>
          </p:cNvPr>
          <p:cNvPicPr>
            <a:picLocks noChangeAspect="1"/>
          </p:cNvPicPr>
          <p:nvPr/>
        </p:nvPicPr>
        <p:blipFill>
          <a:blip r:embed="rId4"/>
          <a:stretch>
            <a:fillRect/>
          </a:stretch>
        </p:blipFill>
        <p:spPr>
          <a:xfrm>
            <a:off x="5992585" y="2273170"/>
            <a:ext cx="4383055" cy="2233516"/>
          </a:xfrm>
          <a:prstGeom prst="rect">
            <a:avLst/>
          </a:prstGeom>
        </p:spPr>
      </p:pic>
    </p:spTree>
    <p:extLst>
      <p:ext uri="{BB962C8B-B14F-4D97-AF65-F5344CB8AC3E}">
        <p14:creationId xmlns:p14="http://schemas.microsoft.com/office/powerpoint/2010/main" val="2608472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EBE363-C6BB-50B8-A806-FD2A19617374}"/>
              </a:ext>
            </a:extLst>
          </p:cNvPr>
          <p:cNvPicPr>
            <a:picLocks noChangeAspect="1"/>
          </p:cNvPicPr>
          <p:nvPr/>
        </p:nvPicPr>
        <p:blipFill>
          <a:blip r:embed="rId2"/>
          <a:stretch>
            <a:fillRect/>
          </a:stretch>
        </p:blipFill>
        <p:spPr>
          <a:xfrm>
            <a:off x="10207689" y="170686"/>
            <a:ext cx="1846261" cy="1504159"/>
          </a:xfrm>
          <a:prstGeom prst="rect">
            <a:avLst/>
          </a:prstGeom>
        </p:spPr>
      </p:pic>
      <p:sp>
        <p:nvSpPr>
          <p:cNvPr id="2" name="TextBox 1">
            <a:extLst>
              <a:ext uri="{FF2B5EF4-FFF2-40B4-BE49-F238E27FC236}">
                <a16:creationId xmlns:a16="http://schemas.microsoft.com/office/drawing/2014/main" id="{9B14010B-4657-CDBB-C897-C6CABC5D892B}"/>
              </a:ext>
            </a:extLst>
          </p:cNvPr>
          <p:cNvSpPr txBox="1"/>
          <p:nvPr/>
        </p:nvSpPr>
        <p:spPr>
          <a:xfrm>
            <a:off x="2593911" y="2952080"/>
            <a:ext cx="7221893" cy="1446550"/>
          </a:xfrm>
          <a:prstGeom prst="rect">
            <a:avLst/>
          </a:prstGeom>
          <a:noFill/>
        </p:spPr>
        <p:txBody>
          <a:bodyPr wrap="square" rtlCol="0">
            <a:spAutoFit/>
          </a:bodyPr>
          <a:lstStyle/>
          <a:p>
            <a:r>
              <a:rPr lang="en-IN"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40240031"/>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141</TotalTime>
  <Words>406</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Tw Cen MT</vt:lpstr>
      <vt:lpstr>Droplet</vt:lpstr>
      <vt:lpstr>Sentimental  analysis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Sentiment analysis using machine learning</dc:title>
  <dc:creator>RAMKUMAR K</dc:creator>
  <cp:lastModifiedBy>SRIMOKESH C</cp:lastModifiedBy>
  <cp:revision>4</cp:revision>
  <dcterms:created xsi:type="dcterms:W3CDTF">2023-05-25T12:03:32Z</dcterms:created>
  <dcterms:modified xsi:type="dcterms:W3CDTF">2025-10-06T13:22:29Z</dcterms:modified>
</cp:coreProperties>
</file>